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0E85CA1-0B4D-4696-B873-CC2530C522DB}">
          <p14:sldIdLst>
            <p14:sldId id="256"/>
            <p14:sldId id="257"/>
            <p14:sldId id="258"/>
          </p14:sldIdLst>
        </p14:section>
        <p14:section name="Untitled Section" id="{C34899C8-89B0-4EA1-A2FD-B379EE96D28E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4CA7"/>
    <a:srgbClr val="F9CBE5"/>
    <a:srgbClr val="F6A8D3"/>
    <a:srgbClr val="BE20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6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0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88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6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1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0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58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5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BFC62BE-6AF7-4321-9469-4AFC91D662E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3A222D9A-1224-4D40-B5C6-675051E38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1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BE67-AD97-4E85-A93E-A683B0F49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63480"/>
            <a:ext cx="4891596" cy="94991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Problem Statement: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01C18-4DD1-463F-90A7-EAC2EEA53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24" y="2281561"/>
            <a:ext cx="6699478" cy="3222593"/>
          </a:xfrm>
        </p:spPr>
        <p:txBody>
          <a:bodyPr>
            <a:normAutofit/>
          </a:bodyPr>
          <a:lstStyle/>
          <a:p>
            <a:pPr algn="l"/>
            <a:r>
              <a:rPr lang="en-US" sz="2400" dirty="0" err="1">
                <a:solidFill>
                  <a:schemeClr val="tx1"/>
                </a:solidFill>
              </a:rPr>
              <a:t>AegisLife</a:t>
            </a:r>
            <a:r>
              <a:rPr lang="en-US" sz="2400" dirty="0">
                <a:solidFill>
                  <a:schemeClr val="tx1"/>
                </a:solidFill>
              </a:rPr>
              <a:t> Insurance is experiencing rapid policy growth, which has led to increased operational complexity in claims monitoring, fraud detection, and performance reporting. The company currently lacks a unified analytics framework to track profitability, risk exposure, and agent performance across regions and product lines.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8DB67-48C0-4284-A542-B0B563EC4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649" y="4815093"/>
            <a:ext cx="3494936" cy="267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77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BE67-AD97-4E85-A93E-A683B0F49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763480"/>
            <a:ext cx="6001305" cy="94991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Key Business Challenges:</a:t>
            </a:r>
            <a:endParaRPr 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01C18-4DD1-463F-90A7-EAC2EEA53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24" y="2281561"/>
            <a:ext cx="6699478" cy="3222593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1. High claim ratios impacting profitability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2. Possible fraudulent or inefficient claims processing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3. Lack of real-time executive dashboards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4. Difficulty in region-wise and product-wise performance tracking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5. Limited visibility into agent productivity and customer risk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687FF-8F5B-49F4-9CA3-A058C126A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649" y="4850604"/>
            <a:ext cx="3494936" cy="267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0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BE67-AD97-4E85-A93E-A683B0F49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763480"/>
            <a:ext cx="6001305" cy="94991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Analytical Objectives:</a:t>
            </a:r>
            <a:endParaRPr lang="en-US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01C18-4DD1-463F-90A7-EAC2EEA53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24" y="2281561"/>
            <a:ext cx="6699478" cy="3222593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1. Analyze claims trends across products and regions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2. Identify fraud-prone claims and agents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3. Measure customer risk using profile attributes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4. Track agent productivity and lapse ratios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5. Build dashboards for executive decision-making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4521B-F9AA-4E43-A26A-293249DC7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649" y="4850604"/>
            <a:ext cx="3494936" cy="267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3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BE67-AD97-4E85-A93E-A683B0F49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033" y="142044"/>
            <a:ext cx="7750206" cy="53413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  Key Performance Indicators (KPIs)</a:t>
            </a:r>
            <a:endParaRPr lang="en-US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01C18-4DD1-463F-90A7-EAC2EEA53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777" y="643618"/>
            <a:ext cx="4826499" cy="1649770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KPI 1: </a:t>
            </a:r>
          </a:p>
          <a:p>
            <a:r>
              <a:rPr lang="en-US" sz="1400" dirty="0">
                <a:solidFill>
                  <a:schemeClr val="tx1"/>
                </a:solidFill>
              </a:rPr>
              <a:t>Claim Approval Rate : Percentage of total claims approved out of total claims raised</a:t>
            </a:r>
          </a:p>
          <a:p>
            <a:r>
              <a:rPr lang="en-US" sz="1400" dirty="0">
                <a:solidFill>
                  <a:schemeClr val="tx1"/>
                </a:solidFill>
              </a:rPr>
              <a:t>Insight : Helps assess claim processing efficiency and rejection trends.</a:t>
            </a:r>
          </a:p>
          <a:p>
            <a:r>
              <a:rPr lang="en-US" sz="1400" dirty="0">
                <a:solidFill>
                  <a:schemeClr val="tx1"/>
                </a:solidFill>
              </a:rPr>
              <a:t>Claim Approval Rate= (Approved Claims/Total Claims)​×100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087D04D-9CFB-4785-986B-BD3510E49A47}"/>
              </a:ext>
            </a:extLst>
          </p:cNvPr>
          <p:cNvSpPr txBox="1">
            <a:spLocks/>
          </p:cNvSpPr>
          <p:nvPr/>
        </p:nvSpPr>
        <p:spPr>
          <a:xfrm>
            <a:off x="6400797" y="676180"/>
            <a:ext cx="5131296" cy="16497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chemeClr val="tx1"/>
                </a:solidFill>
              </a:rPr>
              <a:t>KPI 2</a:t>
            </a:r>
            <a:r>
              <a:rPr lang="en-US" sz="1400" b="1" dirty="0">
                <a:solidFill>
                  <a:schemeClr val="tx1"/>
                </a:solidFill>
              </a:rPr>
              <a:t>: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Fraud Ratio : Percentage of claims flagged as fraud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Insight: Measures fraud exposure and potential claim leakage risk.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Fraud Ratio= (Fraud Claims/Total Claims​)×100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B1A1A8-70B7-458A-BDF3-79F3F541ADCD}"/>
              </a:ext>
            </a:extLst>
          </p:cNvPr>
          <p:cNvSpPr txBox="1">
            <a:spLocks/>
          </p:cNvSpPr>
          <p:nvPr/>
        </p:nvSpPr>
        <p:spPr>
          <a:xfrm>
            <a:off x="523776" y="2861174"/>
            <a:ext cx="5572224" cy="1462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chemeClr val="tx1"/>
                </a:solidFill>
              </a:rPr>
              <a:t>KPI 3: 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Policy Lapse Rate: Percentage of sold policies that became lapsed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Insight : Indicates customer retention and renewal performance.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Lapse Rate= (Lapsed Policies/Total Policies Sold )​×100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3E688CB-DFCB-4E17-B0D3-CB45919F39BF}"/>
              </a:ext>
            </a:extLst>
          </p:cNvPr>
          <p:cNvSpPr txBox="1">
            <a:spLocks/>
          </p:cNvSpPr>
          <p:nvPr/>
        </p:nvSpPr>
        <p:spPr>
          <a:xfrm>
            <a:off x="6400797" y="2860085"/>
            <a:ext cx="5131296" cy="1462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chemeClr val="tx1"/>
                </a:solidFill>
              </a:rPr>
              <a:t>KPI 4: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Average Claim Amount: Average financial exposure per claim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Insight: Shows claim severity and underwriting risk.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Average Claim Amount = Total Claim Amount / Total claims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72CBF4-C70C-4695-8B3F-A0FB45776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649" y="4850604"/>
            <a:ext cx="3494936" cy="2674263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DBF7462-5916-4CBD-8AF8-30C039268895}"/>
              </a:ext>
            </a:extLst>
          </p:cNvPr>
          <p:cNvSpPr txBox="1">
            <a:spLocks/>
          </p:cNvSpPr>
          <p:nvPr/>
        </p:nvSpPr>
        <p:spPr>
          <a:xfrm>
            <a:off x="523777" y="4454383"/>
            <a:ext cx="5572224" cy="15329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chemeClr val="tx1"/>
                </a:solidFill>
              </a:rPr>
              <a:t>KPI 5</a:t>
            </a:r>
            <a:r>
              <a:rPr lang="en-US" sz="1400" b="1" dirty="0">
                <a:solidFill>
                  <a:schemeClr val="tx1"/>
                </a:solidFill>
              </a:rPr>
              <a:t>: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Agent Retention Rate: Percentage of active policies retained by each agent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Insight: Measures agent productivity and portfolio quality.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Retention rate =( (Total policies sold – Lapsed polices)/Total policies sold))*100</a:t>
            </a:r>
          </a:p>
        </p:txBody>
      </p:sp>
    </p:spTree>
    <p:extLst>
      <p:ext uri="{BB962C8B-B14F-4D97-AF65-F5344CB8AC3E}">
        <p14:creationId xmlns:p14="http://schemas.microsoft.com/office/powerpoint/2010/main" val="359578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BE67-AD97-4E85-A93E-A683B0F49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763480"/>
            <a:ext cx="6001305" cy="949910"/>
          </a:xfrm>
        </p:spPr>
        <p:txBody>
          <a:bodyPr>
            <a:noAutofit/>
          </a:bodyPr>
          <a:lstStyle/>
          <a:p>
            <a:r>
              <a:rPr lang="en-US" sz="4400" b="1" dirty="0"/>
              <a:t>Business Hypotheses: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01C18-4DD1-463F-90A7-EAC2EEA53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24" y="2281562"/>
            <a:ext cx="6699478" cy="807868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Customers with higher </a:t>
            </a:r>
            <a:r>
              <a:rPr lang="en-US" sz="2400" dirty="0" err="1">
                <a:solidFill>
                  <a:schemeClr val="tx1"/>
                </a:solidFill>
              </a:rPr>
              <a:t>Risk_Score</a:t>
            </a:r>
            <a:r>
              <a:rPr lang="en-US" sz="2400" dirty="0">
                <a:solidFill>
                  <a:schemeClr val="tx1"/>
                </a:solidFill>
              </a:rPr>
              <a:t> tend to raise higher claim amounts.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5ACA486-B1BD-4934-B7BB-65BA410ABF55}"/>
              </a:ext>
            </a:extLst>
          </p:cNvPr>
          <p:cNvSpPr txBox="1">
            <a:spLocks/>
          </p:cNvSpPr>
          <p:nvPr/>
        </p:nvSpPr>
        <p:spPr>
          <a:xfrm>
            <a:off x="2574524" y="3253668"/>
            <a:ext cx="6699478" cy="80786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solidFill>
                  <a:schemeClr val="tx1"/>
                </a:solidFill>
              </a:rPr>
              <a:t>Smokers and customers with pre-existing illness have higher claim frequency.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DB1D28F-5813-4B24-B9C4-895D1B143907}"/>
              </a:ext>
            </a:extLst>
          </p:cNvPr>
          <p:cNvSpPr txBox="1">
            <a:spLocks/>
          </p:cNvSpPr>
          <p:nvPr/>
        </p:nvSpPr>
        <p:spPr>
          <a:xfrm>
            <a:off x="2574524" y="4427000"/>
            <a:ext cx="6699478" cy="80786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solidFill>
                  <a:schemeClr val="tx1"/>
                </a:solidFill>
              </a:rPr>
              <a:t>Certain regions have significantly higher loss ratios than the company average.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7BC1195-770B-4374-948D-697FFD1CB8E3}"/>
              </a:ext>
            </a:extLst>
          </p:cNvPr>
          <p:cNvSpPr txBox="1">
            <a:spLocks/>
          </p:cNvSpPr>
          <p:nvPr/>
        </p:nvSpPr>
        <p:spPr>
          <a:xfrm>
            <a:off x="2574524" y="5600332"/>
            <a:ext cx="6699478" cy="80786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solidFill>
                  <a:schemeClr val="tx1"/>
                </a:solidFill>
              </a:rPr>
              <a:t>Agents with high fraud association show abnormal claim rejection or approval patterns.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D892666-1583-406C-8ACE-CDEE9C444F39}"/>
              </a:ext>
            </a:extLst>
          </p:cNvPr>
          <p:cNvSpPr txBox="1">
            <a:spLocks/>
          </p:cNvSpPr>
          <p:nvPr/>
        </p:nvSpPr>
        <p:spPr>
          <a:xfrm>
            <a:off x="1439661" y="2445059"/>
            <a:ext cx="726490" cy="4756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solidFill>
                  <a:schemeClr val="tx1"/>
                </a:solidFill>
              </a:rPr>
              <a:t>H1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A3AC0F4-356D-4669-9B0A-011284195D22}"/>
              </a:ext>
            </a:extLst>
          </p:cNvPr>
          <p:cNvSpPr txBox="1">
            <a:spLocks/>
          </p:cNvSpPr>
          <p:nvPr/>
        </p:nvSpPr>
        <p:spPr>
          <a:xfrm>
            <a:off x="1439661" y="3414575"/>
            <a:ext cx="726490" cy="4756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solidFill>
                  <a:schemeClr val="tx1"/>
                </a:solidFill>
              </a:rPr>
              <a:t>H2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5F995F2-E8F9-4CF5-A974-69B1B0BFBFA3}"/>
              </a:ext>
            </a:extLst>
          </p:cNvPr>
          <p:cNvSpPr txBox="1">
            <a:spLocks/>
          </p:cNvSpPr>
          <p:nvPr/>
        </p:nvSpPr>
        <p:spPr>
          <a:xfrm>
            <a:off x="1439661" y="4590497"/>
            <a:ext cx="726490" cy="4756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solidFill>
                  <a:schemeClr val="tx1"/>
                </a:solidFill>
              </a:rPr>
              <a:t>H3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AEDABB0-EC07-4DD6-BA83-5B40297FB170}"/>
              </a:ext>
            </a:extLst>
          </p:cNvPr>
          <p:cNvSpPr txBox="1">
            <a:spLocks/>
          </p:cNvSpPr>
          <p:nvPr/>
        </p:nvSpPr>
        <p:spPr>
          <a:xfrm>
            <a:off x="1439661" y="5766419"/>
            <a:ext cx="726490" cy="4756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solidFill>
                  <a:schemeClr val="tx1"/>
                </a:solidFill>
              </a:rPr>
              <a:t>H4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07E753-565E-4821-A555-756AD1012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649" y="4850604"/>
            <a:ext cx="3494936" cy="267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7102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83</TotalTime>
  <Words>388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 Light</vt:lpstr>
      <vt:lpstr>Wingdings 3</vt:lpstr>
      <vt:lpstr>Metropolitan</vt:lpstr>
      <vt:lpstr>Problem Statement: </vt:lpstr>
      <vt:lpstr>Key Business Challenges:</vt:lpstr>
      <vt:lpstr>Analytical Objectives:</vt:lpstr>
      <vt:lpstr>   Key Performance Indicators (KPIs)</vt:lpstr>
      <vt:lpstr>Business Hypotheses: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Statement:</dc:title>
  <dc:creator>Tanush</dc:creator>
  <cp:lastModifiedBy>Tanush</cp:lastModifiedBy>
  <cp:revision>17</cp:revision>
  <dcterms:created xsi:type="dcterms:W3CDTF">2026-04-12T05:47:57Z</dcterms:created>
  <dcterms:modified xsi:type="dcterms:W3CDTF">2026-04-16T20:41:04Z</dcterms:modified>
</cp:coreProperties>
</file>